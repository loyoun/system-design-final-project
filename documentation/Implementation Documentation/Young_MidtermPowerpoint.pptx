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LMS Risk Matrix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[Book1]Sheet1!$B$1</c:f>
              <c:strCache>
                <c:ptCount val="1"/>
                <c:pt idx="0">
                  <c:v>Risk Impact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[Book1]Sheet1!$A$2:$A$9</c:f>
              <c:numCache>
                <c:formatCode>General</c:formatCode>
                <c:ptCount val="8"/>
                <c:pt idx="0">
                  <c:v>4</c:v>
                </c:pt>
                <c:pt idx="1">
                  <c:v>8</c:v>
                </c:pt>
                <c:pt idx="2">
                  <c:v>6</c:v>
                </c:pt>
                <c:pt idx="3">
                  <c:v>1</c:v>
                </c:pt>
                <c:pt idx="4">
                  <c:v>2</c:v>
                </c:pt>
                <c:pt idx="5">
                  <c:v>4</c:v>
                </c:pt>
                <c:pt idx="6">
                  <c:v>1</c:v>
                </c:pt>
                <c:pt idx="7">
                  <c:v>10</c:v>
                </c:pt>
              </c:numCache>
            </c:numRef>
          </c:xVal>
          <c:yVal>
            <c:numRef>
              <c:f>[Book1]Sheet1!$B$2:$B$9</c:f>
              <c:numCache>
                <c:formatCode>General</c:formatCode>
                <c:ptCount val="8"/>
                <c:pt idx="0">
                  <c:v>7</c:v>
                </c:pt>
                <c:pt idx="1">
                  <c:v>3</c:v>
                </c:pt>
                <c:pt idx="2">
                  <c:v>6</c:v>
                </c:pt>
                <c:pt idx="3">
                  <c:v>5</c:v>
                </c:pt>
                <c:pt idx="4">
                  <c:v>7</c:v>
                </c:pt>
                <c:pt idx="5">
                  <c:v>2</c:v>
                </c:pt>
                <c:pt idx="6">
                  <c:v>9</c:v>
                </c:pt>
                <c:pt idx="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20D-4ABB-9A33-6EAC35593B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6018960"/>
        <c:axId val="1136023760"/>
      </c:scatterChart>
      <c:valAx>
        <c:axId val="1136018960"/>
        <c:scaling>
          <c:orientation val="minMax"/>
          <c:max val="1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Risk</a:t>
                </a:r>
                <a:r>
                  <a:rPr lang="en-US" baseline="0"/>
                  <a:t> Probability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6023760"/>
        <c:crosses val="autoZero"/>
        <c:crossBetween val="midCat"/>
        <c:majorUnit val="1"/>
      </c:valAx>
      <c:valAx>
        <c:axId val="1136023760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Risk</a:t>
                </a:r>
                <a:r>
                  <a:rPr lang="en-US" baseline="0"/>
                  <a:t> Impact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60189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65AE-C9F9-C503-4D5A-B134026DB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CECD3-63A6-CE13-950B-1FA8186BC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58536-3F31-CDFA-6E52-E33772758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C0CB-E85D-49AD-899F-66F428EB51B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12388-934B-8885-AF22-66D0224D0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A9FE9-9F7B-E364-5861-DC4AF838D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1F05-3881-4413-9FBE-B00EDBD4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31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F33B4-81AD-8B0E-E1F4-BAE7688E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9F85D-6884-876E-B24B-1C8075E61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020A-BE56-364E-E902-E9C48FD6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C0CB-E85D-49AD-899F-66F428EB51B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6EB92-6105-15F2-68FE-68282D51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FC3D1-BA25-EA78-00BC-3C2CAA31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1F05-3881-4413-9FBE-B00EDBD4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04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1114E-3722-797F-DAAC-52316E7A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02C6B-5796-30F8-7100-7CF756F9F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4FBE9-BD3F-FE29-5418-B63307DDA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C0CB-E85D-49AD-899F-66F428EB51B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10F07-3583-390D-BEAB-F1D658EAC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38E71-E0A7-6F65-B9A0-A3826320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1F05-3881-4413-9FBE-B00EDBD4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64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8513C-BC15-AAEB-7C00-9A23C49B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C20D3-3B94-2D44-16B0-138DDFF86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2B4DE-0A04-A8A9-8158-7049D20A8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E4A9A-69DC-2175-ABB8-82DD878B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C0CB-E85D-49AD-899F-66F428EB51B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C27C5-766B-32A5-0A35-2E38B390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A547D-8A95-1D36-0838-4679DBD5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1F05-3881-4413-9FBE-B00EDBD4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02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E5C30-2E1E-6D41-7087-7FC0156E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2194F-A91E-B5D8-EF91-3EA5B1122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592B0-3587-CDC0-7496-C3E044993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276A7-54DE-5584-8394-EB2512882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3B785-F6BF-FCB7-51A7-1E8ED8C25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DCA02A-2EB2-0CFE-8E71-450FE9E87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C0CB-E85D-49AD-899F-66F428EB51B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4D81C-9956-4CB1-D3AE-99432111F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77EA57-7FA3-8A31-E4F3-62828750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1F05-3881-4413-9FBE-B00EDBD4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07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B17D6-02A3-791B-81E5-2841509C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C5D88-2782-3B3E-B734-117C46B03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C0CB-E85D-49AD-899F-66F428EB51B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98C07-7243-4258-7AC1-359C7138B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15B32-3526-A6D5-394C-6E17DA14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1F05-3881-4413-9FBE-B00EDBD4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6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54B16-622B-4914-A8C6-84178ED1A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C0CB-E85D-49AD-899F-66F428EB51B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88322-E266-6158-D93C-C50AF87B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FDDD4-FCB9-DD6B-3591-A53D0DC00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1F05-3881-4413-9FBE-B00EDBD4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9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93EC-23E1-9112-1E5A-489515B8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87542-35E2-8923-8C5D-ED8F295E3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B2756-9940-8068-E4EF-A039F7987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1056D-EFE3-FDD6-FA6B-B1E4D11D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C0CB-E85D-49AD-899F-66F428EB51B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D9BC9-BAF5-BF70-A8C8-048972DDD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5E836-509A-A08C-0F27-A78569737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1F05-3881-4413-9FBE-B00EDBD4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60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93336-F273-4DE4-E729-A59CB9074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B4EE89-954E-367D-1046-5BA30552A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566C0-6F67-4D3A-76A3-A77111FFF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79646-E054-C5DB-1BFC-955BC6D2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C0CB-E85D-49AD-899F-66F428EB51B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DC1E5-7518-6D92-2A3B-0B7A42B70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B9D60-09E9-DE86-79AA-1E9F3EC1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1F05-3881-4413-9FBE-B00EDBD4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56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DC3F-707E-BBD7-D432-A34B5E5E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3ACBD-53A8-15DB-B05E-989AF1F73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8F308-0674-3374-91B3-3277CFAD5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C0CB-E85D-49AD-899F-66F428EB51B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9376F-E88A-7F70-CA34-E541DDCDC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691E4-A53A-9ADA-38D3-DDB4536DE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1F05-3881-4413-9FBE-B00EDBD4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83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5F1CEF-6539-4CE0-CC61-F1ABA19B2F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D7C24C-A568-70FD-DD14-2C6026F19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E414E-FFF3-DFFA-BF0E-AA77077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C0CB-E85D-49AD-899F-66F428EB51B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AA390-AADE-5707-6C2A-A365FB7C5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017A1-98BE-53B3-C4D8-224A2653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1F05-3881-4413-9FBE-B00EDBD4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2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BC309F-DCBC-7126-DF61-B207CB955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8CD47-DA2E-F09B-CB72-B4AF5C7F4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800D8-2A21-9C25-F8BB-67FEB7306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8C0CB-E85D-49AD-899F-66F428EB51B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C67CD-25C8-2B46-7D0A-4D38C7CD5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B1302-ED39-A2A4-22A2-993CCDE669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31F05-3881-4413-9FBE-B00EDBD4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6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ED3B7-5863-A8BC-066F-E4115A7A72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Midterm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9990F-2BA1-B5B7-35B7-30EE62D1CE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INFO-C451 – Logan Young</a:t>
            </a:r>
          </a:p>
          <a:p>
            <a:r>
              <a:rPr lang="en-US" dirty="0"/>
              <a:t>LMS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0691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45034-2A97-E41D-BBC0-CC5305EB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and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AD5DE-123F-2723-40C7-E58E4A5C2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must be fully constructed and implemented</a:t>
            </a:r>
          </a:p>
          <a:p>
            <a:r>
              <a:rPr lang="en-US" dirty="0"/>
              <a:t>Development methodology used is the spiral model – iteration.</a:t>
            </a:r>
          </a:p>
          <a:p>
            <a:r>
              <a:rPr lang="en-US" dirty="0"/>
              <a:t>A plan must be made for all aspects of the implementation phase.</a:t>
            </a:r>
          </a:p>
        </p:txBody>
      </p:sp>
    </p:spTree>
    <p:extLst>
      <p:ext uri="{BB962C8B-B14F-4D97-AF65-F5344CB8AC3E}">
        <p14:creationId xmlns:p14="http://schemas.microsoft.com/office/powerpoint/2010/main" val="2514115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A8ECE-637C-4B62-3645-8087A55CB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dirty="0"/>
              <a:t>Risk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400F4-8A9D-CD0E-4B3A-AE956CA1C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2000"/>
              <a:t>Several large and small risks that could occur during implementation</a:t>
            </a:r>
          </a:p>
          <a:p>
            <a:r>
              <a:rPr lang="en-US" sz="2000"/>
              <a:t>Employee quits, funds run out, project files are lost, etc.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BD23C14-5715-05F1-87E9-CDE41B1E0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615575"/>
              </p:ext>
            </p:extLst>
          </p:nvPr>
        </p:nvGraphicFramePr>
        <p:xfrm>
          <a:off x="6800986" y="643234"/>
          <a:ext cx="4747547" cy="5599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9546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A4951-7C71-3754-0374-C192DC999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 dirty="0"/>
              <a:t>Timeline and Installation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A35D7-0AC5-41A2-3895-6D77F7725A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9914" y="1204744"/>
            <a:ext cx="10872172" cy="1956991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62F59-BF0E-1CFD-9A6B-E95AB0B92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835" y="3998019"/>
            <a:ext cx="6382966" cy="2216512"/>
          </a:xfrm>
        </p:spPr>
        <p:txBody>
          <a:bodyPr>
            <a:normAutofit/>
          </a:bodyPr>
          <a:lstStyle/>
          <a:p>
            <a:r>
              <a:rPr lang="en-US" sz="2200"/>
              <a:t>The entire project will take about two and a half month up to systems support. Implementation will take about three weeks.</a:t>
            </a:r>
          </a:p>
          <a:p>
            <a:r>
              <a:rPr lang="en-US" sz="2200"/>
              <a:t>Parallel operation: preserve old system while new system is in operation.</a:t>
            </a:r>
          </a:p>
          <a:p>
            <a:r>
              <a:rPr lang="en-US" sz="2200"/>
              <a:t>System has to be built, tested, and deployed.</a:t>
            </a:r>
          </a:p>
        </p:txBody>
      </p:sp>
    </p:spTree>
    <p:extLst>
      <p:ext uri="{BB962C8B-B14F-4D97-AF65-F5344CB8AC3E}">
        <p14:creationId xmlns:p14="http://schemas.microsoft.com/office/powerpoint/2010/main" val="2783624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3E061D-0253-B5B2-A051-11F481C8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02FA8-2DB7-2E8C-996C-C43E1B106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 will be migrated from a physical system to a digital one.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98A092-CF04-0EF7-5DD7-AF1187C48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6536" y="1966293"/>
            <a:ext cx="10858927" cy="44521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61537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E7982-7837-ED7E-58D9-21CDB1066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Test Plan and Cases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A1C18-4EDA-AC42-1BBA-462EC1EB5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62" y="630936"/>
            <a:ext cx="7074409" cy="1463040"/>
          </a:xfrm>
        </p:spPr>
        <p:txBody>
          <a:bodyPr anchor="ctr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Unit, integration, system, and acceptance testing.</a:t>
            </a:r>
          </a:p>
          <a:p>
            <a:r>
              <a:rPr lang="en-US" sz="2200">
                <a:solidFill>
                  <a:srgbClr val="FFFFFF"/>
                </a:solidFill>
              </a:rPr>
              <a:t>Test functions, scripts, their connections, then everything.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78FAA6-9894-64AF-1003-9472781F2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857508"/>
              </p:ext>
            </p:extLst>
          </p:nvPr>
        </p:nvGraphicFramePr>
        <p:xfrm>
          <a:off x="630936" y="3423408"/>
          <a:ext cx="10917938" cy="23752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8674">
                  <a:extLst>
                    <a:ext uri="{9D8B030D-6E8A-4147-A177-3AD203B41FA5}">
                      <a16:colId xmlns:a16="http://schemas.microsoft.com/office/drawing/2014/main" val="2351661797"/>
                    </a:ext>
                  </a:extLst>
                </a:gridCol>
                <a:gridCol w="1830747">
                  <a:extLst>
                    <a:ext uri="{9D8B030D-6E8A-4147-A177-3AD203B41FA5}">
                      <a16:colId xmlns:a16="http://schemas.microsoft.com/office/drawing/2014/main" val="4056456634"/>
                    </a:ext>
                  </a:extLst>
                </a:gridCol>
                <a:gridCol w="1983336">
                  <a:extLst>
                    <a:ext uri="{9D8B030D-6E8A-4147-A177-3AD203B41FA5}">
                      <a16:colId xmlns:a16="http://schemas.microsoft.com/office/drawing/2014/main" val="3785306385"/>
                    </a:ext>
                  </a:extLst>
                </a:gridCol>
                <a:gridCol w="2468376">
                  <a:extLst>
                    <a:ext uri="{9D8B030D-6E8A-4147-A177-3AD203B41FA5}">
                      <a16:colId xmlns:a16="http://schemas.microsoft.com/office/drawing/2014/main" val="1656200468"/>
                    </a:ext>
                  </a:extLst>
                </a:gridCol>
                <a:gridCol w="3106805">
                  <a:extLst>
                    <a:ext uri="{9D8B030D-6E8A-4147-A177-3AD203B41FA5}">
                      <a16:colId xmlns:a16="http://schemas.microsoft.com/office/drawing/2014/main" val="3754488312"/>
                    </a:ext>
                  </a:extLst>
                </a:gridCol>
              </a:tblGrid>
              <a:tr h="2851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Test Case ID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Description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Precondition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Input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Expected Output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extLst>
                  <a:ext uri="{0D108BD9-81ED-4DB2-BD59-A6C34878D82A}">
                    <a16:rowId xmlns:a16="http://schemas.microsoft.com/office/drawing/2014/main" val="1228823691"/>
                  </a:ext>
                </a:extLst>
              </a:tr>
              <a:tr h="10450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TC-F-011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Member attempts to check out a book that is not available.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User account is member level or higher and chosen book is not available.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Calibri" panose="020F0502020204030204" pitchFamily="34" charset="0"/>
                        <a:buChar char="-"/>
                      </a:pPr>
                      <a:r>
                        <a:rPr lang="en-US" sz="1400" kern="100">
                          <a:effectLst/>
                        </a:rPr>
                        <a:t>Book: Animal Farm [Checked Out]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Book checkout fails, “This book is [Checked Out], please submit a hold request or choose another book!”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extLst>
                  <a:ext uri="{0D108BD9-81ED-4DB2-BD59-A6C34878D82A}">
                    <a16:rowId xmlns:a16="http://schemas.microsoft.com/office/drawing/2014/main" val="3188919902"/>
                  </a:ext>
                </a:extLst>
              </a:tr>
              <a:tr h="10450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TC-V-004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Email does not comply with regex email check.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User has entered an incorrect email address into the email field.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Calibri" panose="020F0502020204030204" pitchFamily="34" charset="0"/>
                        <a:buChar char="-"/>
                      </a:pPr>
                      <a:r>
                        <a:rPr lang="en-US" sz="1400" kern="100">
                          <a:effectLst/>
                        </a:rPr>
                        <a:t>Email: lmsuser1.com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Account creation disabled, email field warning, “Email is invalid! Please check to make sure email is formatted correctly.”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0115" marR="90115" marT="0" marB="0"/>
                </a:tc>
                <a:extLst>
                  <a:ext uri="{0D108BD9-81ED-4DB2-BD59-A6C34878D82A}">
                    <a16:rowId xmlns:a16="http://schemas.microsoft.com/office/drawing/2014/main" val="3033027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0785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CBB6F-C3C3-9757-8856-1F3D1E3B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Debugging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B8AC8-80B7-B4C3-088D-257C66559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Debugging will be handled in IDE.</a:t>
            </a:r>
          </a:p>
          <a:p>
            <a:r>
              <a:rPr lang="en-US" dirty="0"/>
              <a:t>Large, functional bugs will need to be handled before deployment.</a:t>
            </a:r>
          </a:p>
          <a:p>
            <a:r>
              <a:rPr lang="en-US" dirty="0"/>
              <a:t>Small bugs that don’t impact usability handled after.</a:t>
            </a:r>
          </a:p>
          <a:p>
            <a:r>
              <a:rPr lang="en-US" dirty="0"/>
              <a:t>Few, if any, automated testing tools required. Postman.</a:t>
            </a:r>
          </a:p>
        </p:txBody>
      </p:sp>
    </p:spTree>
    <p:extLst>
      <p:ext uri="{BB962C8B-B14F-4D97-AF65-F5344CB8AC3E}">
        <p14:creationId xmlns:p14="http://schemas.microsoft.com/office/powerpoint/2010/main" val="1490026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5131D-ED8D-9E74-2303-5A77F04AE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Conversion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30CB1-CCD0-101A-AD62-EEBF5C162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 records converted to digital ones.</a:t>
            </a:r>
          </a:p>
          <a:p>
            <a:r>
              <a:rPr lang="en-US" dirty="0"/>
              <a:t>Copied, cleaned, deduplicated, reorganized.</a:t>
            </a:r>
          </a:p>
          <a:p>
            <a:r>
              <a:rPr lang="en-US" dirty="0"/>
              <a:t>Validation, outside research to fill empty fields.</a:t>
            </a:r>
          </a:p>
        </p:txBody>
      </p:sp>
    </p:spTree>
    <p:extLst>
      <p:ext uri="{BB962C8B-B14F-4D97-AF65-F5344CB8AC3E}">
        <p14:creationId xmlns:p14="http://schemas.microsoft.com/office/powerpoint/2010/main" val="230549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C80DD-819F-6552-1B1D-B6D15A0C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Implementation Plan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71317-7757-5579-29BC-78E628173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System software construction from logical and physical models.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Hardware construction.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Software and hardware connection.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Data cleaning and copying.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System and data testing and validation.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System deployment and user testing.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64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BA820-3D48-DC24-5A64-6B841CFA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Factors and 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16539-02E6-AC0B-C25A-058A6EED8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Meet all needs set in project plan + extra requirements given by client.</a:t>
            </a:r>
          </a:p>
          <a:p>
            <a:r>
              <a:rPr lang="en-US" dirty="0"/>
              <a:t>User testing continues and goes well.</a:t>
            </a:r>
          </a:p>
          <a:p>
            <a:r>
              <a:rPr lang="en-US" dirty="0"/>
              <a:t>System is supported and secure for length of contract.</a:t>
            </a:r>
          </a:p>
          <a:p>
            <a:r>
              <a:rPr lang="en-US" dirty="0"/>
              <a:t>Lessons learned added to development team knowledge.</a:t>
            </a:r>
          </a:p>
        </p:txBody>
      </p:sp>
    </p:spTree>
    <p:extLst>
      <p:ext uri="{BB962C8B-B14F-4D97-AF65-F5344CB8AC3E}">
        <p14:creationId xmlns:p14="http://schemas.microsoft.com/office/powerpoint/2010/main" val="3568951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434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Midterm Presentation</vt:lpstr>
      <vt:lpstr>Development and Planning</vt:lpstr>
      <vt:lpstr>Risk Assessment</vt:lpstr>
      <vt:lpstr>Timeline and Installation</vt:lpstr>
      <vt:lpstr>Data Migration</vt:lpstr>
      <vt:lpstr>Test Plan and Cases</vt:lpstr>
      <vt:lpstr>System Debugging and Testing</vt:lpstr>
      <vt:lpstr>Data Conversion and Testing</vt:lpstr>
      <vt:lpstr>System Implementation Plan Summary</vt:lpstr>
      <vt:lpstr>Success Factors and Lessons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Young, Logan</dc:creator>
  <cp:lastModifiedBy>Young, Logan</cp:lastModifiedBy>
  <cp:revision>5</cp:revision>
  <dcterms:created xsi:type="dcterms:W3CDTF">2026-03-09T18:06:54Z</dcterms:created>
  <dcterms:modified xsi:type="dcterms:W3CDTF">2026-03-09T19:24:54Z</dcterms:modified>
</cp:coreProperties>
</file>